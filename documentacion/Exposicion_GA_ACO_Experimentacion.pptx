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pt-BR" sz="1400" b="0" i="0" u="none" strike="noStrike">
                <a:solidFill>
                  <a:srgbClr val="21295C"/>
                </a:solidFill>
                <a:latin typeface="Arial"/>
              </a:rPr>
              <a:t>Composite score por algoritmo (n = 156)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78-405C-A345-358931D042C3}"/>
              </c:ext>
            </c:extLst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78-405C-A345-358931D042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GA</c:v>
                </c:pt>
                <c:pt idx="1">
                  <c:v>ACO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80.89</c:v>
                </c:pt>
                <c:pt idx="1">
                  <c:v>81.08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78-405C-A345-358931D042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3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DAY_TO_DAY</c:v>
                </c:pt>
                <c:pt idx="1">
                  <c:v>PD3_M30</c:v>
                </c:pt>
                <c:pt idx="2">
                  <c:v>PD5_M60</c:v>
                </c:pt>
                <c:pt idx="3">
                  <c:v>PD7_M90</c:v>
                </c:pt>
                <c:pt idx="4">
                  <c:v>COLL_M30</c:v>
                </c:pt>
                <c:pt idx="5">
                  <c:v>COLL_M15</c:v>
                </c:pt>
                <c:pt idx="6">
                  <c:v>COLL_0</c:v>
                </c:pt>
                <c:pt idx="7">
                  <c:v>COLL_P15</c:v>
                </c:pt>
                <c:pt idx="8">
                  <c:v>COLL_P30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83.236000000000004</c:v>
                </c:pt>
                <c:pt idx="1">
                  <c:v>80.283000000000001</c:v>
                </c:pt>
                <c:pt idx="2">
                  <c:v>82.206000000000003</c:v>
                </c:pt>
                <c:pt idx="3">
                  <c:v>81.924999999999997</c:v>
                </c:pt>
                <c:pt idx="4">
                  <c:v>80.004999999999995</c:v>
                </c:pt>
                <c:pt idx="5">
                  <c:v>79.709999999999994</c:v>
                </c:pt>
                <c:pt idx="6">
                  <c:v>80.454999999999998</c:v>
                </c:pt>
                <c:pt idx="7">
                  <c:v>81.346000000000004</c:v>
                </c:pt>
                <c:pt idx="8">
                  <c:v>80.527000000000001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11C-464D-81EF-CA0775E7EE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ACO</c:v>
                </c:pt>
              </c:strCache>
            </c:strRef>
          </c:tx>
          <c:spPr>
            <a:ln w="38100" cap="flat">
              <a:solidFill>
                <a:srgbClr val="C2410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DAY_TO_DAY</c:v>
                </c:pt>
                <c:pt idx="1">
                  <c:v>PD3_M30</c:v>
                </c:pt>
                <c:pt idx="2">
                  <c:v>PD5_M60</c:v>
                </c:pt>
                <c:pt idx="3">
                  <c:v>PD7_M90</c:v>
                </c:pt>
                <c:pt idx="4">
                  <c:v>COLL_M30</c:v>
                </c:pt>
                <c:pt idx="5">
                  <c:v>COLL_M15</c:v>
                </c:pt>
                <c:pt idx="6">
                  <c:v>COLL_0</c:v>
                </c:pt>
                <c:pt idx="7">
                  <c:v>COLL_P15</c:v>
                </c:pt>
                <c:pt idx="8">
                  <c:v>COLL_P30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83.236000000000004</c:v>
                </c:pt>
                <c:pt idx="1">
                  <c:v>80.283000000000001</c:v>
                </c:pt>
                <c:pt idx="2">
                  <c:v>82.206000000000003</c:v>
                </c:pt>
                <c:pt idx="3">
                  <c:v>81.924999999999997</c:v>
                </c:pt>
                <c:pt idx="4">
                  <c:v>80.063000000000002</c:v>
                </c:pt>
                <c:pt idx="5">
                  <c:v>79.721999999999994</c:v>
                </c:pt>
                <c:pt idx="6">
                  <c:v>80.436999999999998</c:v>
                </c:pt>
                <c:pt idx="7">
                  <c:v>81.584000000000003</c:v>
                </c:pt>
                <c:pt idx="8">
                  <c:v>80.605999999999995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11C-464D-81EF-CA0775E7E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4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129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s-MX" sz="1300" b="0" i="0" u="none" strike="noStrike">
                <a:solidFill>
                  <a:srgbClr val="21295C"/>
                </a:solidFill>
                <a:latin typeface="Arial"/>
              </a:rPr>
              <a:t>Sensibilidad: capacidad de vuelos ± 30 % (GA-P1)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GA-P1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−30 %</c:v>
                </c:pt>
                <c:pt idx="1">
                  <c:v>−15 %</c:v>
                </c:pt>
                <c:pt idx="2">
                  <c:v>0 %</c:v>
                </c:pt>
                <c:pt idx="3">
                  <c:v>+15 %</c:v>
                </c:pt>
                <c:pt idx="4">
                  <c:v>+30 %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79.7</c:v>
                </c:pt>
                <c:pt idx="1">
                  <c:v>79.7</c:v>
                </c:pt>
                <c:pt idx="2">
                  <c:v>80.5</c:v>
                </c:pt>
                <c:pt idx="3">
                  <c:v>81.3</c:v>
                </c:pt>
                <c:pt idx="4">
                  <c:v>80.5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82D-4AD0-98AA-578C68F2784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3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Arial"/>
              </a:rPr>
              <a:t>Escalabilidad: composite score vs. demanda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1 500</c:v>
                </c:pt>
                <c:pt idx="1">
                  <c:v>3 000</c:v>
                </c:pt>
                <c:pt idx="2">
                  <c:v>6 000</c:v>
                </c:pt>
                <c:pt idx="3">
                  <c:v>9 000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81.400000000000006</c:v>
                </c:pt>
                <c:pt idx="2">
                  <c:v>80.7</c:v>
                </c:pt>
                <c:pt idx="3">
                  <c:v>80.400000000000006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661-4873-8DC3-EDBE20AE34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ACO</c:v>
                </c:pt>
              </c:strCache>
            </c:strRef>
          </c:tx>
          <c:spPr>
            <a:ln w="38100" cap="flat">
              <a:solidFill>
                <a:srgbClr val="C2410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1 500</c:v>
                </c:pt>
                <c:pt idx="1">
                  <c:v>3 000</c:v>
                </c:pt>
                <c:pt idx="2">
                  <c:v>6 000</c:v>
                </c:pt>
                <c:pt idx="3">
                  <c:v>9 000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82.2</c:v>
                </c:pt>
                <c:pt idx="1">
                  <c:v>81.400000000000006</c:v>
                </c:pt>
                <c:pt idx="2">
                  <c:v>80.7</c:v>
                </c:pt>
                <c:pt idx="3">
                  <c:v>80.400000000000006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661-4873-8DC3-EDBE20AE34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4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129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49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0"/>
            <a:ext cx="12161520" cy="731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2A65A"/>
                </a:solidFill>
              </a:rPr>
              <a:t>PROYECTO DE DISEÑO Y DESARROLLO DE SOFTWARE · 1INF54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PUCP · Facultad de Ciencias e Ingeniería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GA y ACO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Experimentación numérica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</a:rPr>
              <a:t>Sistema de Gestión Logística de Traslado de Maletas · Tasf.B2B S.A.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54864" cy="12801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9377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Equipo 3C</a:t>
            </a:r>
            <a:endParaRPr lang="en-US" sz="14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CADCFC"/>
                </a:solidFill>
              </a:rPr>
              <a:t>Semestre</a:t>
            </a:r>
            <a:r>
              <a:rPr lang="en-US" sz="1300" dirty="0">
                <a:solidFill>
                  <a:srgbClr val="CADCFC"/>
                </a:solidFill>
              </a:rPr>
              <a:t> 2026-1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6217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F2A65A"/>
                </a:solidFill>
              </a:rPr>
              <a:t>GA + ACO + Experimentación</a:t>
            </a:r>
            <a:endParaRPr lang="en-US" sz="1100" dirty="0"/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C649B973-DD0F-4890-B00A-FF988080B99C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280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exposición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109728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286000" y="17190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</a:rPr>
              <a:t>Algoritmo Genético (GA)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2194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Concepto, pseudocódigo y operadores clave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10881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63240"/>
            <a:ext cx="109728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46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286000" y="32278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</a:rPr>
              <a:t>Optimización por Colonia de Hormigas (ACO)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3703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Concepto, pseudocódigo y mecanismo de feromonas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572000"/>
            <a:ext cx="109728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54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2286000" y="47365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</a:rPr>
              <a:t>Experimentación numérica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286000" y="5212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Diseño, realización y conclusiones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C1FD881-C4CE-4D69-9201-B4CBF843F3F7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Alonso Reyes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280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ALGORITMO GENÉTICO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GA: evolución de poblaciones de rutas factibles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91440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Idea central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Cada cromosoma = una ruta candidata (secuencia de vuelos) para un envío.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La población evoluciona por generaciones aplicando selección, cruce y mutación.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El fitness premia entregas a tiempo y baja saturación; el inverso del routeScore se usa como aptitud.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Caché de evaluaciones por ruta para evitar recómputos costosos.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Parada anticipada por estancamiento (STAGNATION_LIMIT = 4).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Ciclo evolutivo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1945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221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148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Inicializar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2441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Rutas factibles iniciales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283464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862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2788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Evaluar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0815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Calcular fitness por ruta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347472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5021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3429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Seleccionar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37216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Torneo de tamaño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41148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1422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Cruzar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43616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Combinar dos padres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47548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782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4709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Mutar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50017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Reemplazo aleatorio (rate)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53949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5422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5349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Elitismo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5641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Conservar 12 % mejor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987EA477-8265-45B3-862E-822B0311DBA1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EDF92B22-0C69-4CA0-A887-FFE7F680C53F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BFA66904-2C15-458F-8E47-4FE033F6E757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07A18C8-9345-498C-A011-93BCB4D6DA63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Alonso Reyes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72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ALGORITMO GENÉTICO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de planRoute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73152" cy="41148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72768"/>
            <a:ext cx="106070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función planRouteFromCandidates(envío, vuelosCandidatos, aeropuertos):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rutas ← enumerar rutas factibles (DFS limitado por SLA y escalas)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 rutas vacía: devolver []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perfil ← elegir perfil adaptativo según #rutas y #candidatos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población ← inicializar(rutas, perfil.populationSize)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mejor_fitness ← max(fitness en población)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estancada ← 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gen = 1 .. perfil.generations: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población ← evolve(población, perfil)         // selección + cruce + mutación + elitismo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gen_best  ← max(fitness en población)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 gen_best &gt; mejor_fitness: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mejor_fitness ← gen_best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estancada ←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sino si ++estancada ≥ STAGNATION_LIMIT:       // parada anticipada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romper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devolver ruta(individuo de mayor fitness) → TravelStops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5733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populationSize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989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20 – 60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98064" y="566928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89504" y="5733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generations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9504" y="5989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8 – 20 (adaptativo)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56048" y="566928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47488" y="5733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mutationRate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7488" y="5989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0.02 – 0.12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14032" y="566928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5733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elitismo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05472" y="5989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12 % mejor población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72016" y="566928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63456" y="5733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fitness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63456" y="5989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1 / routeScore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BF3C147-173F-4928-9FA0-8114CCB0C87C}"/>
              </a:ext>
            </a:extLst>
          </p:cNvPr>
          <p:cNvSpPr/>
          <p:nvPr/>
        </p:nvSpPr>
        <p:spPr>
          <a:xfrm>
            <a:off x="540173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DDE3B37B-34B0-4925-8292-9507189DDB2D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B74468E7-8C4B-4505-A7D4-958D4241AB04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48E0BE2-0CF3-44CB-9991-81444744BED3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Alonso Reyes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34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ALGORITMO GENÉTICO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clave: evolve() y operadores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955280" cy="4572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73152" cy="45720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72768"/>
            <a:ext cx="7680960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List&lt;Individual&gt; evolve(population, shipment, candidates, random, cache, profile)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List&lt;Individual&gt; ranked = population.stream()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.sorted(Comparator.comparingDouble(Individual::fitness).reversed()).toList();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eliteCount = max(1, ceil(ranked.size() * 0.12));        // 12% elitismo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Map&lt;String,Individual&gt; next = new LinkedHashMap&lt;&gt;();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eliteCount; i++)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next.put(routeKey(ranked.get(i).route()), ranked.get(i));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(next.size() &lt; profile.populationSize() &amp;&amp; attempts++ &lt; maxAttempts)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Individual pA = selectParent(ranked, random);            // torneo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Individual pB = selectParent(ranked, random);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List&lt;Flight&gt; child = crossoverRoutes(shipment, pA.route(), pB.route(), ...);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(random.nextDouble() &lt; profile.mutationRate())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child = mutateRoute(shipment, child, candidates, random, cache);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addIndividual(next, shipment, child, cache);             // sólo si es factible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next.values().stream()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.sorted(by fitness desc).limit(profile.populationSize()).toList();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0" y="14630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0" y="1463040"/>
            <a:ext cx="73152" cy="141732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Selección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Torneo de 3, devuelve el más apto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30175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0" y="3017520"/>
            <a:ext cx="73152" cy="141732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Cruce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0" y="3474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Pool con padres + candidatos que comparten origen o pivote; gana el mejor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0" y="45720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0" y="4572000"/>
            <a:ext cx="73152" cy="141732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4681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Mutación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0" y="5029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Swap por candidato aleatorio (8 muestras)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1B01C7AE-CAA4-4242-A4EB-C05E2DEB6A87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C8FD493-546B-42A2-8104-B480E4E43CDD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23587E1F-B7F2-4E9A-A877-27CEB70B2861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F147A1D-7D46-46FF-8C6C-B16EFD17FC61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Alonso Reyes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9421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COLONIA DE HORMIGAS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ACO: feromona y heurística para componer rutas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91440" cy="4754880"/>
          </a:xfrm>
          <a:prstGeom prst="rect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</a:rPr>
              <a:t>Idea central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K hormigas construyen rutas paso a paso desde el aeropuerto origen.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En cada nodo, el siguiente vuelo se elige por ruleta probabilística.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Probabilidad pondera feromona (τ) y heurística (η = 1/score).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Tras cada iteración: evaporación + depósito proporcional al fitness.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El mejor recorrido global se conserva entre iteraciones.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</a:rPr>
              <a:t>Regla de transición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103120"/>
            <a:ext cx="4572000" cy="137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p(i) = ( τᵢ^α  ·  ηᵢ^β )  /  Σⱼ ( τⱼ^α  ·  ηⱼ^β 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ηᵢ = 1 / max(1, routeScore(vueloᵢ))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Evaporación: τᵢ ← max(τ_min,  (1 − ρ) · τᵢ)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749040"/>
            <a:ext cx="1101852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382219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2410C"/>
                </a:solidFill>
              </a:rPr>
              <a:t>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4069080"/>
            <a:ext cx="1010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1.0 – 1.2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437083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peso feromona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31836" y="3749040"/>
            <a:ext cx="1101852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7556" y="382219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2410C"/>
                </a:solidFill>
              </a:rPr>
              <a:t>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7556" y="4069080"/>
            <a:ext cx="1010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2.0 – 2.5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77556" y="437083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peso heurística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88552" y="3749040"/>
            <a:ext cx="1101852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34272" y="382219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2410C"/>
                </a:solidFill>
              </a:rPr>
              <a:t>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34272" y="4069080"/>
            <a:ext cx="1010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0.10 – 0.15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34272" y="437083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evaporación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145268" y="3749040"/>
            <a:ext cx="1101852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90988" y="382219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2410C"/>
                </a:solidFill>
              </a:rPr>
              <a:t>τ_min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90988" y="4069080"/>
            <a:ext cx="1010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0.01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90988" y="4370832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piso de feromona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Depósito: τᵢ  +=  max(0.05, fitness(ruta) / 5000)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5349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Más feromona donde se obtuvieron mejores rutas; el rastro guía a las siguientes hormigas.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9C8E8946-9881-4F5C-A7E8-B2A358522904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78412900-5512-4081-B7EA-E4FB618C35E3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72532D12-7B2B-4CF9-ACD9-45EDC0E1B793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53E6B17-6D5E-49C4-8475-D6171AEF8C92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Sebastian</a:t>
            </a: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Badajoz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280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COLONIA DE HORMIGAS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de planRoute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73152" cy="42062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72768"/>
            <a:ext cx="106070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función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planRoute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envío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vuelosDisponibles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aeropuertos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candidatos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vuelos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compatibles con 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origen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SLA,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candidatos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vacío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devolver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inicializar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τ[v] = τ₀  para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candidatos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mejor_ruta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mejor_score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+∞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 .. iterations: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rutas_iter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para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hormiga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 = 1 ..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numAnts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buildSolution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envío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candidatos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//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construcción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paso a paso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vacía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rutas_iter.append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score ←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routeScore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envío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&lt;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mejor_score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mejor_score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mejor_ruta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evaporar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                            // τ ← (1 − ρ) · 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actualizarFeromonas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envío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rutas_iter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//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depositar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según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fitness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devolver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toTravelStops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envío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mejor_ruta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85216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5897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numAnts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</a:rPr>
              <a:t>24 – 35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98064" y="585216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89504" y="5897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iterations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9504" y="6126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</a:rPr>
              <a:t>20 – 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56048" y="585216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47488" y="5897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α / 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7488" y="6126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</a:rPr>
              <a:t>1.0 / 2.0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14032" y="585216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5897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evaporación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05472" y="6126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</a:rPr>
              <a:t>0.10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72016" y="585216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63456" y="5897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τ₀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63456" y="6126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</a:rPr>
              <a:t>1.0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  ·  Planificador de rutas  ·  Equipo 3C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10C0CBE5-B923-4738-A982-5F12FE30CAE1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6943EC84-879A-4468-AA71-3EC0B390A087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8C4C5D69-21B0-43BB-8FEF-3AEF747DB008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54D9BB2B-5AB5-4678-AF02-BC50FF73E5A4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B33E4A4-F390-4A2C-BF87-B2990A70AC4B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Sebastian</a:t>
            </a: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Badajoz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72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COLONIA DE HORMIGAS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clave: buildSolution() y rouletteSelect()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166707"/>
            <a:ext cx="7772400" cy="2706624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66707"/>
            <a:ext cx="73152" cy="270662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76435"/>
            <a:ext cx="749808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List&lt;Flight&gt; buildSolution(shipment, availableFlights, random)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List&lt;Flight&gt; path = new ArrayList&lt;&gt;();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Set&lt;Long&gt; visited = new HashSet&lt;&gt;();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Airport current = shipment.getOriginAirport();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LocalDateTime readyAt = registrationTime(shipment);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(path.size() &lt; maxFlightLegs(shipment))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visited.add(current.getId());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List&lt;Flight&gt; outgoing = filtrarVuelosFactibles(current, readyAt, visited);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(outgoing.isEmpty()) return List.of();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Flight chosen = rouletteSelect(outgoing, random);          // τ^α · η^β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path.add(chosen);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(esDestinoFinal(chosen))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isFeasibleRoute(shipment, path) ? List.copyOf(path) : List.of();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chosen.getDestinationAirport();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readyAt = chosen.getScheduledArrival();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List.of();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018281"/>
            <a:ext cx="7772400" cy="2314785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018281"/>
            <a:ext cx="45719" cy="2314785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11075"/>
            <a:ext cx="74980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 rouletteSelect(candidates, random)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total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List&lt;Double&gt; w = new ArrayList&lt;&gt;();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(Flight f : candidates)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tau = pheromones.getOrDefault(f.getId(), tau_0);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eta = 1.0 / max(1.0, routeScoreForSingleFlight(f));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weight = pow(tau, alpha) * pow(eta, beta);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w.add(weight); total += weight;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roll = random.nextDouble() * total, acc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candidates.size(); i++)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 += w.get(i);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(roll &lt;= acc) return candidates.get(i);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candidates.get(candidates.size() - 1);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595360" y="1166707"/>
            <a:ext cx="292608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1258147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</a:rPr>
              <a:t>Flujo por hormiga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1715347"/>
            <a:ext cx="274320" cy="274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1715347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1669627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Empezar en aeropuerto origen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0" y="2428579"/>
            <a:ext cx="274320" cy="274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2428579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2382859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Listar vuelos salientes factibles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3141811"/>
            <a:ext cx="274320" cy="274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141811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3096091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Elegir uno por ruleta τ^α · η^β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78240" y="3855043"/>
            <a:ext cx="274320" cy="274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3855043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3809323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Avanzar: actualizar nodo y tiempo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78240" y="4568275"/>
            <a:ext cx="274320" cy="274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4568275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0" y="4522555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Repetir hasta destino o límite de escalas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78240" y="5281507"/>
            <a:ext cx="274320" cy="274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5281507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0" y="5235787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Validar ruta completa con SLA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F07538FD-BC52-4072-8868-D1051D8065C3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6BC23F93-416A-4418-8236-E5EE6F16B2A5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4E386097-1D4B-4D24-8A29-AD007CA13DE2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373571EA-4E21-41AF-BEB2-F613016C49B8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40D75FC6-CD96-4E7A-9310-3A818D789279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956BDAF-8FCF-4BD3-BBAD-C5E3BF8EA030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Sebastian</a:t>
            </a: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Badajoz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961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vs ACO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60063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paradigmas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(Genético)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 (Hormigas)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Cromosoma = ruta 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construido por hormiga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Población + caché de evaluaciones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de feromonas τ[v]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Cruce y mutación entre rutas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Ruleta con τ y 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Elitismo (12 %)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Refuerzo por depósito de feromona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Estancamiento (4 gen) o gen máx.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 fijas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Hiperparámetros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popSize, generations, mutationRate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numAnts, α, β, 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Equivalencia operativa observada en el experimento: diferencia GA − ACO = 0.19 puntos sobre 100 (dentro del IC 95 %).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B39E7723-2FED-48C0-A91D-7A80C6370B73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19E3904-ABFE-4C2F-9FCB-124869F9529F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FBD272F1-168E-4FAE-A6AB-9890AEC8ED0A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5175BC2A-1DE8-4481-99CB-98A5EDFCD4E1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98FFC28A-3F5B-4C35-8CB0-C8B407965234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0DE73B9-C1D2-4D07-A213-86662C79C685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Sebastian</a:t>
            </a: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Badajoz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61520" cy="73152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Experimentación numérica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kern="0" spc="400" dirty="0">
                <a:solidFill>
                  <a:srgbClr val="CADCFC"/>
                </a:solidFill>
              </a:rPr>
              <a:t>Diseño · Realización · Conclusión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5212080"/>
            <a:ext cx="2468880" cy="1188720"/>
          </a:xfrm>
          <a:prstGeom prst="rect">
            <a:avLst/>
          </a:prstGeom>
          <a:solidFill>
            <a:srgbClr val="0F1A4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2852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65A"/>
                </a:solidFill>
              </a:rPr>
              <a:t>156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corridas reproducibles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5212080"/>
            <a:ext cx="2468880" cy="1188720"/>
          </a:xfrm>
          <a:prstGeom prst="rect">
            <a:avLst/>
          </a:prstGeom>
          <a:solidFill>
            <a:srgbClr val="0F1A4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52852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65A"/>
                </a:solidFill>
              </a:rPr>
              <a:t>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escenarios oficiales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5212080"/>
            <a:ext cx="2468880" cy="1188720"/>
          </a:xfrm>
          <a:prstGeom prst="rect">
            <a:avLst/>
          </a:prstGeom>
          <a:solidFill>
            <a:srgbClr val="0F1A4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52852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65A"/>
                </a:solidFill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7220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algoritmos comparados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23960" y="5212080"/>
            <a:ext cx="2468880" cy="1188720"/>
          </a:xfrm>
          <a:prstGeom prst="rect">
            <a:avLst/>
          </a:prstGeom>
          <a:solidFill>
            <a:srgbClr val="0F1A4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52852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65A"/>
                </a:solidFill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82396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niveles de demanda</a:t>
            </a:r>
            <a:endParaRPr lang="en-US" sz="11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92BB2A80-865C-4A96-81FB-0747E4B314A9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14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03.A · DISEÑO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experimento e hipótesis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91440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Objetivo general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Determinar, mediante una comparación controlada y reproducible, qué algoritmo metaheurístico —GA o ACO— ofrece el mejor balance entre cumplimiento de SLA, robustez ante colapso, eficiencia y costo, para el componente Planificador de Tasf.B2B.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035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463040"/>
            <a:ext cx="91440" cy="210312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</a:rPr>
              <a:t>Variable dependiente principal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9659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compositeScore = 0.55 · weightedCompleted  +  0.35 · collapseDelayScore  +  0.10 · collapsePenalty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Ponderación 55/35/10 acordada con el cliente: entrega completa, retraso del colapso, penalización por colapso.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Hipótesis a contrastar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60520"/>
          <a:ext cx="10881360" cy="2057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produce composite score significativamente superior a ACO (Δ &gt; 1, IC 95 % no solapado).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del ganador dentro de banda ± 2 puntos al variar capacidad de vuelos ± 30 %.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por encima de 78 con degradación ≤ 3 puntos al subir demanda 1 500 → 9 000.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de envíos completados en escenarios DAY_TO_DAY y PERIOD_*.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hiperparámetros tuneados (perfil P1) superan a los exploratorios (P2) en ambos algoritmos.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141DF33B-0B5F-4D47-BA13-6D328BDB2AE7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86628798-BCFD-4FE1-A5C6-C42CC4C673B4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D96B62E4-7D9E-4833-8052-437D6747080D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D18C5FA6-9432-415E-A84B-FA6AFC4A9AA1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A0C6E9F0-BA58-418E-BA97-B96C3326C4D2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7D49CC-C20E-478C-8E71-4DF8FF393412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Adrian</a:t>
            </a: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Picoy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9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03.A · DISEÑO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escenarios y perfiles de configuración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4864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91440" cy="48463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Variables independientes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965960"/>
          <a:ext cx="507492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 algorítmica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GA, 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de configuración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y P2 por familia (4)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operativo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oficiales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 demanda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 / 3 000 / 6 000 / 9 000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Semilla aleatoria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 (réplicas)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68680" y="44348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Total combinatorio: 288 corridas teóricas · Diseño fraccionado ejecutado: 156.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463040"/>
            <a:ext cx="52578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463040"/>
            <a:ext cx="91440" cy="484632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10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</a:rPr>
              <a:t>9 escenarios oficiales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46520" y="2011680"/>
            <a:ext cx="146304" cy="292608"/>
          </a:xfrm>
          <a:prstGeom prst="rect">
            <a:avLst/>
          </a:prstGeom>
          <a:solidFill>
            <a:srgbClr val="0E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Operación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46520" y="2377440"/>
            <a:ext cx="850392" cy="292608"/>
          </a:xfrm>
          <a:prstGeom prst="roundRect">
            <a:avLst>
              <a:gd name="adj" fmla="val 15625"/>
            </a:avLst>
          </a:prstGeom>
          <a:solidFill>
            <a:srgbClr val="0E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2377440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DAY_TO_DAY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46520" y="2880360"/>
            <a:ext cx="146304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28803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Período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46520" y="3246120"/>
            <a:ext cx="1056132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3246120"/>
            <a:ext cx="1056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PERIOD_D3_M30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94092" y="3246120"/>
            <a:ext cx="1056132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94092" y="3246120"/>
            <a:ext cx="1056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PERIOD_D5_M60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41664" y="3246120"/>
            <a:ext cx="1056132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41664" y="3246120"/>
            <a:ext cx="1056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PERIOD_D7_M90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46520" y="3749040"/>
            <a:ext cx="146304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3749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Colapso (sensibilidad de vuelos)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46520" y="4114800"/>
            <a:ext cx="1330452" cy="292608"/>
          </a:xfrm>
          <a:prstGeom prst="roundRect">
            <a:avLst>
              <a:gd name="adj" fmla="val 15625"/>
            </a:avLst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4114800"/>
            <a:ext cx="1330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COLLAPSE_SENS_M30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68412" y="4114800"/>
            <a:ext cx="1330452" cy="292608"/>
          </a:xfrm>
          <a:prstGeom prst="roundRect">
            <a:avLst>
              <a:gd name="adj" fmla="val 15625"/>
            </a:avLst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8412" y="4114800"/>
            <a:ext cx="1330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COLLAPSE_SENS_M15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290304" y="4114800"/>
            <a:ext cx="1193292" cy="292608"/>
          </a:xfrm>
          <a:prstGeom prst="roundRect">
            <a:avLst>
              <a:gd name="adj" fmla="val 15625"/>
            </a:avLst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4114800"/>
            <a:ext cx="1193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COLLAPSE_SENS_0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446520" y="4526280"/>
            <a:ext cx="1330452" cy="292608"/>
          </a:xfrm>
          <a:prstGeom prst="roundRect">
            <a:avLst>
              <a:gd name="adj" fmla="val 15625"/>
            </a:avLst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4526280"/>
            <a:ext cx="1330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COLLAPSE_SENS_P15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868412" y="4526280"/>
            <a:ext cx="1330452" cy="292608"/>
          </a:xfrm>
          <a:prstGeom prst="roundRect">
            <a:avLst>
              <a:gd name="adj" fmla="val 15625"/>
            </a:avLst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68412" y="4526280"/>
            <a:ext cx="1330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COLLAPSE_SENS_P30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46520" y="54406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Perfiles tuneados (P1) y exploratorios (P2): GA-P1 popSize=55, gens=24, mut=0.05  ·  ACO-P1 numAnts=24, iter=20, ρ=0.10, α=1.0, β=2.0.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AAD77416-96DD-43C5-81AB-F1C40FB1DE6D}"/>
              </a:ext>
            </a:extLst>
          </p:cNvPr>
          <p:cNvSpPr/>
          <p:nvPr/>
        </p:nvSpPr>
        <p:spPr>
          <a:xfrm>
            <a:off x="548640" y="650070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27FECD46-E71A-4021-9E33-908CB90623EE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F5935FD2-5480-4FA6-8C53-26382E31616F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7D2C3637-C465-4550-8362-5F241E983818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53B8FBCA-70B4-42D1-A0B6-97C4E87A22D0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1330AB37-58F9-4A1C-AB70-1504F5234A99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F25DF0EF-8A0D-412B-AC5A-AF78FFECE22D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0209F54-B400-4657-9FF0-F4CB5C5C6F43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Adrian</a:t>
            </a: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Picoy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72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03.B · REALIZACIÓN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por corrida y métrica compuesta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9436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Procedimiento estandarizado por corrida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671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Reiniciar contenedor PostgreSQL y aplicar V1__init.sql + V2__indices.sql.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77977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07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Cargar aeropuertos.csv y vuelos.csv vía CargadorCSV.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472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Inicializar Motor de Simulación con (perfil, escenario, semilla).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05993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873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Generar envíos (cantidad = demandSize) y planificar con el algoritmo.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70001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274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6634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Ejecutar simulación hasta finalización o colapso.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34009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67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53035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Persistir KPIs en benchmark-results.csv y benchmark-results.json.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1463040"/>
            <a:ext cx="475488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463040"/>
            <a:ext cx="91440" cy="484632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600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</a:rPr>
              <a:t>Composite score (0 a 100)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2057400"/>
            <a:ext cx="443484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1031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0.55 · (completed/total)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+ 0.35 · ((total − saturated)/total)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+ 0.10 · max(0, 100 − missRate)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3200400"/>
            <a:ext cx="164592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Entrega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4128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5A82"/>
                </a:solidFill>
              </a:rPr>
              <a:t>55 %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49440" y="3703320"/>
            <a:ext cx="164592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Retraso colapso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24128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7293"/>
                </a:solidFill>
              </a:rPr>
              <a:t>35 %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949440" y="4206240"/>
            <a:ext cx="164592" cy="45720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Penalización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4128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65A"/>
                </a:solidFill>
              </a:rPr>
              <a:t>10 %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49440" y="493776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Estadísticos: media, mediana, desviación estándar.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IC 95 % por bootstrap (1 000 muestras).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24148703-4DC5-426E-AF67-D7BD8EBDC4EC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2E3D4E43-F187-44D0-85F0-213B39730436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1FDD6D19-860E-46BF-8F69-F900AAB69E33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16431931-C89E-4639-942B-3973E10E9569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57AC97AF-B4CF-4894-90E0-35F679DF10F3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8" name="Shape 0">
            <a:extLst>
              <a:ext uri="{FF2B5EF4-FFF2-40B4-BE49-F238E27FC236}">
                <a16:creationId xmlns:a16="http://schemas.microsoft.com/office/drawing/2014/main" id="{4A68F50F-9E91-438D-962C-423D3D22216C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CB33400D-3AF7-4083-88D3-2838BD6ECF7A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1BE80EC-A5DE-46A7-99DF-BC9CEC01E94C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Adrian</a:t>
            </a: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Picoy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880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03.B · REALIZACIÓN · 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promedio por algoritmo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55448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737360"/>
          <a:ext cx="3931920" cy="15087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680960" y="3657600"/>
            <a:ext cx="39319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680960" y="3657600"/>
            <a:ext cx="73152" cy="173736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37490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</a:rPr>
              <a:t>Hallazgo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818120" y="40690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Empate técnico GA – ACO: Δ = 0.19 puntos sobre 100, dentro del IC 95 %. Ambas familias presentan baja varianza (DE ≈ 1.5).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IC 95 % del ganador GA-P1 (bootstrap 1 000): [80.46, 81.33]. ΔvsRunnerUp = −0.52 → empate técnico.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5E45ED24-88B0-4D83-B628-D73F299AA2E0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82D6251C-6F27-4FFB-A2D6-16A5B3E862ED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2EA31313-A734-47DF-BD78-5D529DC84DA8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41076BB-7FBB-450A-BD96-9B90C27DAC15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3E32A98A-133D-4EBB-8B0D-1B9D7DD421D3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8AD62BA4-6C58-469F-BFA7-F0C8D9E2EBF6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1E6BAFE3-4888-4E0E-87FA-4339D564BE74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FF2266F-8693-4D5C-9C57-560B0106259F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Adrian</a:t>
            </a: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Picoy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72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por escenario y algoritmo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592689068"/>
              </p:ext>
            </p:extLst>
          </p:nvPr>
        </p:nvGraphicFramePr>
        <p:xfrm>
          <a:off x="640080" y="1183638"/>
          <a:ext cx="10972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628633"/>
            <a:ext cx="3535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5628633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5674353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Operación nominal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5948673"/>
            <a:ext cx="330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GA y ACO empatados (Δ &lt; 0.01) en DAY_TO_DAY y todos los PERIOD_*.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58640" y="5628633"/>
            <a:ext cx="3535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58640" y="5628633"/>
            <a:ext cx="73152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3232" y="5674353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</a:rPr>
              <a:t>Escenarios de colapso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3232" y="5948673"/>
            <a:ext cx="330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ACO supera marginalmente a GA por 0.01 a 0.24 puntos.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77200" y="5628633"/>
            <a:ext cx="3535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77200" y="5628633"/>
            <a:ext cx="73152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41792" y="5674353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</a:rPr>
              <a:t>Diferencia agregada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41792" y="5948673"/>
            <a:ext cx="330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Δ promedio absoluto entre los 9 escenarios ≈ 0.04 puntos.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38560" y="650070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AB6624AF-7306-407E-AA98-1A1B982CE546}"/>
              </a:ext>
            </a:extLst>
          </p:cNvPr>
          <p:cNvSpPr/>
          <p:nvPr/>
        </p:nvSpPr>
        <p:spPr>
          <a:xfrm>
            <a:off x="548640" y="650070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81EE248D-804E-48E5-BC13-B7CC94CA3C90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BE8B7F3A-DF7C-48B0-B464-01D8E880A709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B85E2E1E-66CE-4BE0-A21C-C16500B6C7A3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7C9AF1E8-8E9C-4054-BF6C-48C33C97C435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44A70EFA-66C1-43DC-A669-4894C7409205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F0357515-4B3C-46C1-B55F-53F0DA059775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C344AFE-D977-4098-8024-F9698071E020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Rodrigo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Holguin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034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de vuelos (LE-066) y escalabilidad de demanda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55448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309360" y="155448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464384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" y="5464384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4672" y="5528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H2  ·  Confirmada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04672" y="5802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Banda ± 2 puntos al variar ± 30 %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04672" y="6195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1.6 pts (máx.)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29000" y="5464384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29000" y="5464384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93592" y="5528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H3  ·  Confirmada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93592" y="5802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Score ≥ 78, degradación ≤ 3 al pasar de 1 500 a 9 000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93592" y="6195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1.8 pts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5464384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5464384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82512" y="5528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H4  ·  Confirmada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82512" y="5802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100 % completados en escenarios nominales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382512" y="6195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100 %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006840" y="5464384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006840" y="5464384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171432" y="5528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H5  ·  Confirmada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9171432" y="5802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Perfil tuneado P1 supera al exploratorio P2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171432" y="6195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Confirmado en GA y ACO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E13C3A9A-F923-4F53-B2ED-3D0B92A48B72}"/>
              </a:ext>
            </a:extLst>
          </p:cNvPr>
          <p:cNvSpPr/>
          <p:nvPr/>
        </p:nvSpPr>
        <p:spPr>
          <a:xfrm>
            <a:off x="548640" y="650070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D040E175-4B77-4E52-8BBE-3C232A6AFDA6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2AEBF2B0-09C4-4003-AACA-DABADFB4A1E8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A185B63D-E15C-494E-8851-8817A3F003F8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97AB988F-3D5E-4215-9564-424938FF7542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4FBF96EB-7419-4A76-885D-1DECC512CBCA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80AE7691-F464-4DE8-B605-E02EDA6B9B49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9E152DBE-5A37-4F67-A0B2-3DFC28ACD244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874664EE-022D-499D-97FB-BF03552305E4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C94FA90-867C-44C0-9C22-67F5B8D7F22E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Rodrigo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Holguin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72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03.C · CONCLUSIÓN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 hipótesis y decisión de selección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Enunciado resumido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&gt; ACO con Δ &gt; 1 punto e IC 95 % no solapado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= −0.19; IC solapado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rechaza H1.0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del ganador en banda ± 2 al variar capacidad ± 30 %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Variación máx. 1.6 puntos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≥ 78 con degradación ≤ 3 al subir demanda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80.4 – 82.2; Δ 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completados en escenarios nominales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en DAY_TO_DAY y PERIOD_*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P1 supera a P2 en ambos algoritmos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mejor en GA y 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4297680"/>
            <a:ext cx="137160" cy="1188720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A65A"/>
                </a:solidFill>
              </a:rPr>
              <a:t>Decisión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709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 elige GA con perfil GA-P1 como algoritmo operativo del Planificador.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120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ACO se conserva como segunda implementación intercambiable bajo el patrón Strategy del componente.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5589692"/>
            <a:ext cx="3505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5589692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635412"/>
            <a:ext cx="323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Mantenibilidad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909732"/>
            <a:ext cx="323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Operadores GA más simples; menos hiperparámetros sensibles que ACO (α, β, ρ).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28160" y="5589692"/>
            <a:ext cx="3505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28160" y="5589692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15"/>
          <p:cNvSpPr/>
          <p:nvPr/>
        </p:nvSpPr>
        <p:spPr>
          <a:xfrm>
            <a:off x="4511040" y="5635412"/>
            <a:ext cx="323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Determinismo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11040" y="5909732"/>
            <a:ext cx="323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Para una misma semilla, GA es más predecible (sin matriz de feromonas).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16240" y="5589692"/>
            <a:ext cx="3505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16240" y="5589692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99120" y="5635412"/>
            <a:ext cx="323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Mejor en PERIOD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99120" y="5909732"/>
            <a:ext cx="323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Ventaja marginal en PERIOD_D5 y PERIOD_D7, más representativos del producto.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38560" y="65261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B96CC160-7AFE-4EF6-AFED-D93B56674AB3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FC0ED2C0-0C3B-49AD-9AAC-412B766C3776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C5C625CF-89F9-438F-A945-947B0E93D075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A3BA51F2-695A-4E13-A593-1F34A0597C61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2B3E0816-B5A6-46BF-8BCA-658F5D89ADB5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329C2CD6-E279-4CB0-AD7C-3641DF5D0940}"/>
              </a:ext>
            </a:extLst>
          </p:cNvPr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1BE5F51C-7496-437E-B8AE-AE91A4047717}"/>
              </a:ext>
            </a:extLst>
          </p:cNvPr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C5200CD8-7678-41F5-A200-3E17A86C5818}"/>
              </a:ext>
            </a:extLst>
          </p:cNvPr>
          <p:cNvSpPr/>
          <p:nvPr/>
        </p:nvSpPr>
        <p:spPr>
          <a:xfrm>
            <a:off x="0" y="0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4BA35BFD-B2A1-4939-B34D-BB05D6266907}"/>
              </a:ext>
            </a:extLst>
          </p:cNvPr>
          <p:cNvSpPr/>
          <p:nvPr/>
        </p:nvSpPr>
        <p:spPr>
          <a:xfrm>
            <a:off x="0" y="316996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BD6B2C2-BA6F-4906-9E78-E82FEEB0E73F}"/>
              </a:ext>
            </a:extLst>
          </p:cNvPr>
          <p:cNvSpPr txBox="1"/>
          <p:nvPr/>
        </p:nvSpPr>
        <p:spPr>
          <a:xfrm>
            <a:off x="1644227" y="12545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Rodrigo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Holguin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A65A"/>
                </a:solidFill>
              </a:rPr>
              <a:t>Mensajes clave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Para Tasf.B2B se selecciona GA-P1 como algoritmo operativo.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852928"/>
            <a:ext cx="164592" cy="16459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GA y ACO son operativamente equivalentes (Δ = 0.19, dentro del IC 95 %).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93008"/>
            <a:ext cx="164592" cy="16459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GA es robusto: variación ≤ 1.6 pts ante ± 30 % de capacidad y degradación ≤ 1.8 pts hasta 9 000 envíos.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164592" cy="16459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GA cumple SLA al 100 % en escenarios nominales y mantiene baja varianza (DE = 1.46).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73168"/>
            <a:ext cx="164592" cy="16459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63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ACO permanece intercambiable en código (patrón Strategy) para futuras comparaciones y exposición técnica.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852160"/>
            <a:ext cx="1097280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Gracias · Equipo 3C · Proyecto Tasf.B2B</a:t>
            </a:r>
            <a:endParaRPr lang="en-US" sz="1600" dirty="0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C3EAADCD-6F30-4B77-80BA-0F6DA66BC177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Tasf.B2B: Sistema de Gestión Logística de Traslado de Maletas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E6D36F1F-D088-4EEB-B05E-158330EE45E6}"/>
              </a:ext>
            </a:extLst>
          </p:cNvPr>
          <p:cNvSpPr/>
          <p:nvPr/>
        </p:nvSpPr>
        <p:spPr>
          <a:xfrm>
            <a:off x="0" y="-8467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3C7936BF-5255-4E09-A45B-D03FBBB2F26D}"/>
              </a:ext>
            </a:extLst>
          </p:cNvPr>
          <p:cNvSpPr/>
          <p:nvPr/>
        </p:nvSpPr>
        <p:spPr>
          <a:xfrm>
            <a:off x="0" y="156125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DB3ED9EF-3FE4-4B37-9D1E-63DFBE48D7B5}"/>
              </a:ext>
            </a:extLst>
          </p:cNvPr>
          <p:cNvSpPr/>
          <p:nvPr/>
        </p:nvSpPr>
        <p:spPr>
          <a:xfrm>
            <a:off x="0" y="-8467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E2F7F98C-F820-476C-8EFD-1DC3D80DC71B}"/>
              </a:ext>
            </a:extLst>
          </p:cNvPr>
          <p:cNvSpPr/>
          <p:nvPr/>
        </p:nvSpPr>
        <p:spPr>
          <a:xfrm>
            <a:off x="0" y="156125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D5DAB2ED-9E1A-4C1F-A3DB-47AAA46FFC3D}"/>
              </a:ext>
            </a:extLst>
          </p:cNvPr>
          <p:cNvSpPr/>
          <p:nvPr/>
        </p:nvSpPr>
        <p:spPr>
          <a:xfrm>
            <a:off x="0" y="-8467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E14BF5F9-9140-4D19-9671-FA19CFCD040B}"/>
              </a:ext>
            </a:extLst>
          </p:cNvPr>
          <p:cNvSpPr/>
          <p:nvPr/>
        </p:nvSpPr>
        <p:spPr>
          <a:xfrm>
            <a:off x="0" y="156125"/>
            <a:ext cx="12161520" cy="3657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0C4A42F0-15EA-45A7-B1B3-248D5EEB0BFF}"/>
              </a:ext>
            </a:extLst>
          </p:cNvPr>
          <p:cNvSpPr/>
          <p:nvPr/>
        </p:nvSpPr>
        <p:spPr>
          <a:xfrm>
            <a:off x="0" y="-8467"/>
            <a:ext cx="12192000" cy="3169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2A7FA66B-1F0B-4601-AADE-70A15433C8B6}"/>
              </a:ext>
            </a:extLst>
          </p:cNvPr>
          <p:cNvSpPr/>
          <p:nvPr/>
        </p:nvSpPr>
        <p:spPr>
          <a:xfrm>
            <a:off x="0" y="308529"/>
            <a:ext cx="12192000" cy="670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327C675-D3B7-4F89-8D44-D66DB13586C5}"/>
              </a:ext>
            </a:extLst>
          </p:cNvPr>
          <p:cNvSpPr txBox="1"/>
          <p:nvPr/>
        </p:nvSpPr>
        <p:spPr>
          <a:xfrm>
            <a:off x="1644227" y="4078"/>
            <a:ext cx="889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1200" b="1" i="0" u="none" strike="noStrike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H983-Eq3C Rodrigo </a:t>
            </a:r>
            <a:r>
              <a:rPr lang="es-MX" sz="1200" b="1" i="0" u="none" strike="noStrike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Holguin</a:t>
            </a:r>
            <a:endParaRPr lang="es-MX" sz="1200" b="0" dirty="0"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2932</Words>
  <Application>Microsoft Office PowerPoint</Application>
  <PresentationFormat>Panorámica</PresentationFormat>
  <Paragraphs>479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 y ACO - Experimentación Numérica - Tasf.B2B</dc:title>
  <dc:subject>PptxGenJS Presentation</dc:subject>
  <dc:creator>Equipo 3C</dc:creator>
  <cp:lastModifiedBy>Alonso Reyes Samaniego</cp:lastModifiedBy>
  <cp:revision>5</cp:revision>
  <dcterms:created xsi:type="dcterms:W3CDTF">2026-04-28T00:36:09Z</dcterms:created>
  <dcterms:modified xsi:type="dcterms:W3CDTF">2026-04-28T00:58:02Z</dcterms:modified>
</cp:coreProperties>
</file>